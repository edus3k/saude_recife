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649F51A-CF7C-4B15-A37D-77362579952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8270C39-56B8-40D9-87AE-2CA089A8702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BDC427C-A1EF-47E2-AEE2-4EAC64B64F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0DE6068-9E70-457B-BC67-0BB61CE59E5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DFE0F0-4488-4456-ABA1-D06D4D41A0D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8FD379-1FC2-4119-B65C-A1FC4A307EC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C01433-040A-4E98-941C-FBAE47C75F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01C3F9-84BB-4CB9-BE05-6CE1866B088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386B68A-D2E2-47A5-805E-15CFC76DC0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C0916C9-92C6-4589-8E74-6F0190B6BAB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F03A46-1F80-4273-987B-662432046B5E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BEF589-B7E1-4556-A58B-1603BAE98F0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1D42C0B-0E75-4B86-A711-86D90672F75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59E0B5-D88B-44A3-B752-6CB73531D5C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E526ED-6B17-433D-A3D5-7A840B88F9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154C2A-BBD5-438C-8A66-7EA588A9970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75567F1-474A-46E1-A1D3-57BE06C3B4C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8880" cy="5306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B99B86B-D0AE-4524-88B9-8F95CC20565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CFD046-C45C-47D7-B72A-B01DDA21E9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504709B-623C-4955-B69B-0D1E4973CCC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58DAF2-E369-4BE3-A84C-AE406A0D13F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88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FA42E59-0013-4B70-8E09-BEB685F91A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673880" y="160452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4673880" y="3682080"/>
            <a:ext cx="4015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5266C3-6AB6-4146-9962-94B178D1B807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B61EB6-B935-4EB7-A305-200CDE94234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600" cy="14680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2F19C48D-D6ED-4CED-876D-2AE15E2CEC00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7800" cy="397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Clique para editar o formato de texto dos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2.º nível de tópicos</a:t>
            </a:r>
            <a:endParaRPr b="0" lang="pt-BR" sz="24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3.º nível de tópicos</a:t>
            </a:r>
            <a:endParaRPr b="0" lang="pt-BR" sz="2000" spc="-1" strike="noStrike"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4.º nível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5.º nível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6.º nível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7.º nível de tópicos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9142560" cy="683856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6" name="" descr=""/>
          <p:cNvPicPr/>
          <p:nvPr/>
        </p:nvPicPr>
        <p:blipFill>
          <a:blip r:embed="rId2"/>
          <a:stretch/>
        </p:blipFill>
        <p:spPr>
          <a:xfrm>
            <a:off x="3501000" y="720000"/>
            <a:ext cx="5641560" cy="1978560"/>
          </a:xfrm>
          <a:prstGeom prst="rect">
            <a:avLst/>
          </a:prstGeom>
          <a:ln w="0">
            <a:noFill/>
          </a:ln>
        </p:spPr>
      </p:pic>
      <p:sp>
        <p:nvSpPr>
          <p:cNvPr id="7" name=""/>
          <p:cNvSpPr/>
          <p:nvPr/>
        </p:nvSpPr>
        <p:spPr>
          <a:xfrm>
            <a:off x="36000" y="0"/>
            <a:ext cx="9106560" cy="6838560"/>
          </a:xfrm>
          <a:prstGeom prst="rtTriangle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lnSpc>
                <a:spcPct val="100000"/>
              </a:lnSpc>
              <a:buNone/>
              <a:tabLst>
                <a:tab algn="l" pos="0"/>
              </a:tabLst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188016AA-D11B-4139-A0A2-915A5CAFD247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Times New Roman"/>
            </a:endParaRPr>
          </a:p>
        </p:txBody>
      </p:sp>
      <p:sp>
        <p:nvSpPr>
          <p:cNvPr id="47" name="PlaceHolder 5"/>
          <p:cNvSpPr/>
          <p:nvPr/>
        </p:nvSpPr>
        <p:spPr>
          <a:xfrm>
            <a:off x="45720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&lt;data/hora&gt;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48" name="PlaceHolder 6"/>
          <p:cNvSpPr/>
          <p:nvPr/>
        </p:nvSpPr>
        <p:spPr>
          <a:xfrm>
            <a:off x="3124080" y="6356520"/>
            <a:ext cx="28936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49" name="PlaceHolder 7"/>
          <p:cNvSpPr/>
          <p:nvPr/>
        </p:nvSpPr>
        <p:spPr>
          <a:xfrm>
            <a:off x="6553080" y="6356520"/>
            <a:ext cx="213192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E39BC48-8EE9-4C4A-90E2-81F1E866733E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&lt;número&gt;</a:t>
            </a:fld>
            <a:endParaRPr b="0" lang="pt-BR" sz="1200" spc="-1" strike="noStrike">
              <a:latin typeface="Arial"/>
            </a:endParaRPr>
          </a:p>
        </p:txBody>
      </p:sp>
      <p:sp>
        <p:nvSpPr>
          <p:cNvPr id="50" name=""/>
          <p:cNvSpPr/>
          <p:nvPr/>
        </p:nvSpPr>
        <p:spPr>
          <a:xfrm>
            <a:off x="0" y="5940000"/>
            <a:ext cx="9178920" cy="898920"/>
          </a:xfrm>
          <a:prstGeom prst="rect">
            <a:avLst/>
          </a:prstGeom>
          <a:solidFill>
            <a:srgbClr val="6dc7b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"/>
          <p:cNvSpPr/>
          <p:nvPr/>
        </p:nvSpPr>
        <p:spPr>
          <a:xfrm>
            <a:off x="-36000" y="0"/>
            <a:ext cx="9178920" cy="898920"/>
          </a:xfrm>
          <a:prstGeom prst="rect">
            <a:avLst/>
          </a:prstGeom>
          <a:solidFill>
            <a:srgbClr val="17c1f5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88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Clique para editar o formato de texto dos tópicos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2.º nível de tópicos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3.º nível de tópicos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4.º nível de tópicos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5.º nível de tópicos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6.º nível de tópicos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7.º nível de tópicos</a:t>
            </a:r>
            <a:endParaRPr b="0" lang="pt-BR" sz="2000" spc="-1" strike="noStrike"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2"/>
          <a:stretch/>
        </p:blipFill>
        <p:spPr>
          <a:xfrm>
            <a:off x="6579360" y="5958000"/>
            <a:ext cx="2564640" cy="89964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00000" y="2880000"/>
            <a:ext cx="7380000" cy="164952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Calibri"/>
              </a:rPr>
              <a:t>Análise da Qualidade de Atendimento nas Unidades de Saúde do Recife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subTitle"/>
          </p:nvPr>
        </p:nvSpPr>
        <p:spPr>
          <a:xfrm>
            <a:off x="0" y="4860000"/>
            <a:ext cx="8640000" cy="198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Calibri"/>
              </a:rPr>
              <a:t>Uso de Big Data com dados do SUS</a:t>
            </a:r>
            <a:endParaRPr b="0" lang="pt-BR" sz="32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endParaRPr b="0" lang="pt-BR" sz="2800" spc="-1" strike="noStrike">
              <a:latin typeface="Arial"/>
            </a:endParaRPr>
          </a:p>
          <a:p>
            <a:pPr>
              <a:lnSpc>
                <a:spcPct val="100000"/>
              </a:lnSpc>
              <a:spcBef>
                <a:spcPts val="641"/>
              </a:spcBef>
              <a:buNone/>
              <a:tabLst>
                <a:tab algn="l" pos="0"/>
              </a:tabLst>
            </a:pPr>
            <a:r>
              <a:rPr b="1" lang="pt-BR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1" lang="pt-BR" sz="3200" spc="-1" strike="noStrike">
                <a:solidFill>
                  <a:srgbClr val="000000"/>
                </a:solidFill>
                <a:latin typeface="Calibri"/>
              </a:rPr>
              <a:t>- </a:t>
            </a:r>
            <a:r>
              <a:rPr b="1" lang="pt-BR" sz="2800" spc="-1" strike="noStrike">
                <a:solidFill>
                  <a:srgbClr val="000000"/>
                </a:solidFill>
                <a:latin typeface="Calibri"/>
              </a:rPr>
              <a:t>Eduardo Santos</a:t>
            </a:r>
            <a:endParaRPr b="0" lang="pt-BR" sz="28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11840" y="-6156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PROBLEMA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900000" y="1800000"/>
            <a:ext cx="2700000" cy="2880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pt-BR" sz="2400" spc="-1" strike="noStrike" u="sng">
                <a:uFillTx/>
                <a:latin typeface="Arial"/>
              </a:rPr>
              <a:t>Pontos: </a:t>
            </a:r>
            <a:endParaRPr b="0" lang="pt-BR" sz="2400" spc="-1" strike="noStrike">
              <a:latin typeface="Arial"/>
            </a:endParaRPr>
          </a:p>
          <a:p>
            <a:pPr algn="ctr">
              <a:buNone/>
            </a:pP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 </a:t>
            </a:r>
            <a:r>
              <a:rPr b="0" lang="pt-BR" sz="2400" spc="-1" strike="noStrike">
                <a:latin typeface="Arial"/>
              </a:rPr>
              <a:t>- Superlotação</a:t>
            </a: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24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lang="pt-BR" sz="2400" spc="-1" strike="noStrike">
                <a:latin typeface="Arial"/>
              </a:rPr>
              <a:t> </a:t>
            </a:r>
            <a:r>
              <a:rPr b="0" lang="pt-BR" sz="2400" spc="-1" strike="noStrike">
                <a:latin typeface="Arial"/>
              </a:rPr>
              <a:t>- Desigualdade entre unidades</a:t>
            </a:r>
            <a:endParaRPr b="0" lang="pt-BR" sz="2400" spc="-1" strike="noStrike"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4140000" y="1980000"/>
            <a:ext cx="4500000" cy="28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lnSpc>
                <a:spcPct val="100000"/>
              </a:lnSpc>
              <a:buNone/>
            </a:pPr>
            <a:r>
              <a:rPr b="0" lang="pt-BR" sz="2400" spc="-1" strike="noStrike">
                <a:latin typeface="Arial"/>
              </a:rPr>
              <a:t>O sistema público de saúde enfrenta desafios na distribuição e qualidade do atendimento.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11840" y="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OBJETIVO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7117200" y="5740200"/>
            <a:ext cx="3501720" cy="14587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pt-BR" sz="2000" spc="-1" strike="noStrike">
              <a:latin typeface="Arial"/>
            </a:endParaRPr>
          </a:p>
          <a:p>
            <a:pPr marL="864000">
              <a:lnSpc>
                <a:spcPct val="100000"/>
              </a:lnSpc>
              <a:spcBef>
                <a:spcPts val="56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 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98" name=""/>
          <p:cNvSpPr/>
          <p:nvPr/>
        </p:nvSpPr>
        <p:spPr>
          <a:xfrm>
            <a:off x="5220000" y="1440000"/>
            <a:ext cx="3240000" cy="3420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pt-BR" sz="2400" spc="-1" strike="noStrike" u="sng">
                <a:uFillTx/>
                <a:latin typeface="Arial"/>
              </a:rPr>
              <a:t>Objetivos específicos:</a:t>
            </a:r>
            <a:endParaRPr b="0" lang="pt-BR" sz="2400" spc="-1" strike="noStrike">
              <a:latin typeface="Arial"/>
            </a:endParaRPr>
          </a:p>
          <a:p>
            <a:pPr algn="ctr">
              <a:buNone/>
            </a:pP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 </a:t>
            </a:r>
            <a:r>
              <a:rPr b="0" lang="pt-BR" sz="2400" spc="-1" strike="noStrike">
                <a:latin typeface="Arial"/>
              </a:rPr>
              <a:t>- Identificar unidades com maior demanda</a:t>
            </a:r>
            <a:endParaRPr b="0" lang="pt-BR" sz="2400" spc="-1" strike="noStrike">
              <a:latin typeface="Arial"/>
            </a:endParaRPr>
          </a:p>
          <a:p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 </a:t>
            </a:r>
            <a:r>
              <a:rPr b="0" lang="pt-BR" sz="2400" spc="-1" strike="noStrike">
                <a:latin typeface="Arial"/>
              </a:rPr>
              <a:t>- Analisar horários críticos</a:t>
            </a:r>
            <a:endParaRPr b="0" lang="pt-BR" sz="2400" spc="-1" strike="noStrike">
              <a:latin typeface="Arial"/>
            </a:endParaRPr>
          </a:p>
          <a:p>
            <a:pPr algn="ctr">
              <a:buNone/>
            </a:pPr>
            <a:endParaRPr b="0" lang="pt-BR" sz="1800" spc="-1" strike="noStrike">
              <a:latin typeface="Arial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60000" y="2340000"/>
            <a:ext cx="4140000" cy="234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just">
              <a:buNone/>
            </a:pPr>
            <a:r>
              <a:rPr b="0" lang="pt-BR" sz="2600" spc="-1" strike="noStrike">
                <a:latin typeface="Arial"/>
              </a:rPr>
              <a:t> </a:t>
            </a:r>
            <a:r>
              <a:rPr b="0" lang="pt-BR" sz="2600" spc="-1" strike="noStrike">
                <a:latin typeface="Arial"/>
              </a:rPr>
              <a:t>Analisar a qualidade do atendimento nas </a:t>
            </a:r>
            <a:endParaRPr b="0" lang="pt-BR" sz="2600" spc="-1" strike="noStrike">
              <a:latin typeface="Arial"/>
            </a:endParaRPr>
          </a:p>
          <a:p>
            <a:pPr algn="just">
              <a:buNone/>
            </a:pPr>
            <a:r>
              <a:rPr b="0" lang="pt-BR" sz="2600" spc="-1" strike="noStrike">
                <a:latin typeface="Arial"/>
              </a:rPr>
              <a:t>unidades de saúde (UPA/UBS) do Recife.</a:t>
            </a:r>
            <a:endParaRPr b="0" lang="pt-BR" sz="2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360000" y="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BASE DE DADOS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7020000" y="2160000"/>
            <a:ext cx="1980000" cy="2340000"/>
          </a:xfrm>
          <a:prstGeom prst="foldedCorner">
            <a:avLst>
              <a:gd name="adj" fmla="val 12500"/>
            </a:avLst>
          </a:prstGeom>
          <a:solidFill>
            <a:srgbClr val="cccccc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pt-BR" sz="1200" spc="-1" strike="noStrike">
                <a:latin typeface="Arial"/>
              </a:rPr>
              <a:t>Dados reais do SUS: </a:t>
            </a:r>
            <a:r>
              <a:rPr b="1" lang="pt-BR" sz="1200" spc="-1" strike="noStrike" u="sng">
                <a:uFillTx/>
                <a:latin typeface="Arial"/>
              </a:rPr>
              <a:t>(DATASUS)</a:t>
            </a:r>
            <a:endParaRPr b="0" lang="pt-BR" sz="1200" spc="-1" strike="noStrike">
              <a:latin typeface="Arial"/>
            </a:endParaRPr>
          </a:p>
          <a:p>
            <a:pPr algn="ctr">
              <a:buNone/>
            </a:pPr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latin typeface="Arial"/>
              </a:rPr>
              <a:t>SIA/SUS (PAPE) →atendimentos</a:t>
            </a:r>
            <a:endParaRPr b="0" lang="pt-BR" sz="1200" spc="-1" strike="noStrike">
              <a:latin typeface="Arial"/>
            </a:endParaRPr>
          </a:p>
          <a:p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latin typeface="Arial"/>
              </a:rPr>
              <a:t>CNES (STPE) → unidades</a:t>
            </a:r>
            <a:endParaRPr b="0" lang="pt-BR" sz="1200" spc="-1" strike="noStrike">
              <a:latin typeface="Arial"/>
            </a:endParaRPr>
          </a:p>
          <a:p>
            <a:endParaRPr b="0" lang="pt-BR" sz="1200" spc="-1" strike="noStrike">
              <a:latin typeface="Arial"/>
            </a:endParaRPr>
          </a:p>
          <a:p>
            <a:r>
              <a:rPr b="0" lang="pt-BR" sz="1200" spc="-1" strike="noStrike">
                <a:latin typeface="Arial"/>
              </a:rPr>
              <a:t>CNES (PFPE) → profissionais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216000" y="1800000"/>
            <a:ext cx="6624000" cy="3178800"/>
          </a:xfrm>
          <a:prstGeom prst="rect">
            <a:avLst/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</p:sp>
      <p:pic>
        <p:nvPicPr>
          <p:cNvPr id="103" name="" descr=""/>
          <p:cNvPicPr/>
          <p:nvPr/>
        </p:nvPicPr>
        <p:blipFill>
          <a:blip r:embed="rId1"/>
          <a:stretch/>
        </p:blipFill>
        <p:spPr>
          <a:xfrm>
            <a:off x="333360" y="1980000"/>
            <a:ext cx="2006640" cy="2795040"/>
          </a:xfrm>
          <a:prstGeom prst="rect">
            <a:avLst/>
          </a:prstGeom>
          <a:ln w="0">
            <a:noFill/>
          </a:ln>
        </p:spPr>
      </p:pic>
      <p:pic>
        <p:nvPicPr>
          <p:cNvPr id="104" name="" descr=""/>
          <p:cNvPicPr/>
          <p:nvPr/>
        </p:nvPicPr>
        <p:blipFill>
          <a:blip r:embed="rId2"/>
          <a:stretch/>
        </p:blipFill>
        <p:spPr>
          <a:xfrm>
            <a:off x="4639680" y="1980000"/>
            <a:ext cx="2020320" cy="277596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3"/>
          <a:stretch/>
        </p:blipFill>
        <p:spPr>
          <a:xfrm>
            <a:off x="2472480" y="1980000"/>
            <a:ext cx="2027520" cy="2795040"/>
          </a:xfrm>
          <a:prstGeom prst="rect">
            <a:avLst/>
          </a:prstGeom>
          <a:ln w="0">
            <a:noFill/>
          </a:ln>
        </p:spPr>
      </p:pic>
      <p:sp>
        <p:nvSpPr>
          <p:cNvPr id="106" name=""/>
          <p:cNvSpPr txBox="1"/>
          <p:nvPr/>
        </p:nvSpPr>
        <p:spPr>
          <a:xfrm>
            <a:off x="2810520" y="1141200"/>
            <a:ext cx="3309480" cy="346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pt-BR" sz="1800" spc="-1" strike="noStrike">
                <a:latin typeface="Arial"/>
              </a:rPr>
              <a:t>DADOS DE 2018 ATÉ 02/2026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107" name=""/>
          <p:cNvSpPr/>
          <p:nvPr/>
        </p:nvSpPr>
        <p:spPr>
          <a:xfrm>
            <a:off x="540000" y="5220000"/>
            <a:ext cx="8100000" cy="540000"/>
          </a:xfrm>
          <a:prstGeom prst="rect">
            <a:avLst/>
          </a:prstGeom>
          <a:solidFill>
            <a:srgbClr val="eeeee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pt-BR" sz="1200" spc="-1" strike="noStrike" u="sng">
                <a:uFillTx/>
                <a:latin typeface="Arial"/>
              </a:rPr>
              <a:t>Pré Pandemia</a:t>
            </a:r>
            <a:r>
              <a:rPr b="0" lang="pt-BR" sz="1200" spc="-1" strike="noStrike">
                <a:latin typeface="Arial"/>
              </a:rPr>
              <a:t>→ 01/2018 Até 01/2020 </a:t>
            </a:r>
            <a:r>
              <a:rPr b="1" lang="pt-BR" sz="1200" spc="-1" strike="noStrike" u="sng">
                <a:uFillTx/>
                <a:latin typeface="Arial"/>
              </a:rPr>
              <a:t>Pandemia</a:t>
            </a:r>
            <a:r>
              <a:rPr b="0" lang="pt-BR" sz="1200" spc="-1" strike="noStrike">
                <a:latin typeface="Arial"/>
              </a:rPr>
              <a:t>→  02/2020 Até 05/2022 </a:t>
            </a:r>
            <a:r>
              <a:rPr b="1" lang="pt-BR" sz="1200" spc="-1" strike="noStrike" u="sng">
                <a:uFillTx/>
                <a:latin typeface="Arial"/>
              </a:rPr>
              <a:t>Pós pandemia</a:t>
            </a:r>
            <a:r>
              <a:rPr b="0" lang="pt-BR" sz="1200" spc="-1" strike="noStrike">
                <a:latin typeface="Arial"/>
              </a:rPr>
              <a:t>→ 06/2022 Até 02/2026</a:t>
            </a:r>
            <a:endParaRPr b="0" lang="pt-BR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TECNOLOGIAS UTILIZADAS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09" name=""/>
          <p:cNvSpPr/>
          <p:nvPr/>
        </p:nvSpPr>
        <p:spPr>
          <a:xfrm>
            <a:off x="720000" y="1620000"/>
            <a:ext cx="3240000" cy="3240000"/>
          </a:xfrm>
          <a:prstGeom prst="foldedCorner">
            <a:avLst>
              <a:gd name="adj" fmla="val 12500"/>
            </a:avLst>
          </a:pr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1" lang="pt-BR" sz="2400" spc="-1" strike="noStrike" u="sng">
                <a:uFillTx/>
                <a:latin typeface="Arial"/>
              </a:rPr>
              <a:t>ATÉ O MOMENTO</a:t>
            </a:r>
            <a:endParaRPr b="0" lang="pt-BR" sz="2400" spc="-1" strike="noStrike">
              <a:latin typeface="Arial"/>
            </a:endParaRPr>
          </a:p>
          <a:p>
            <a:pPr algn="ctr">
              <a:buNone/>
            </a:pP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-Python</a:t>
            </a: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-Pandas</a:t>
            </a: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-TabWin (DATASUS)</a:t>
            </a: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-Excel / CSV</a:t>
            </a:r>
            <a:endParaRPr b="0" lang="pt-BR" sz="2400" spc="-1" strike="noStrike">
              <a:latin typeface="Arial"/>
            </a:endParaRPr>
          </a:p>
          <a:p>
            <a:r>
              <a:rPr b="0" lang="pt-BR" sz="2400" spc="-1" strike="noStrike">
                <a:latin typeface="Arial"/>
              </a:rPr>
              <a:t>-Streamlit (dashboard)</a:t>
            </a:r>
            <a:endParaRPr b="0" lang="pt-BR" sz="2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31840" y="0"/>
            <a:ext cx="8227800" cy="11412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ETL (PROCESSO)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980000" y="1141200"/>
            <a:ext cx="5040000" cy="1260000"/>
          </a:xfrm>
          <a:custGeom>
            <a:avLst/>
            <a:gdLst/>
            <a:ahLst/>
            <a:rect l="l" t="t" r="r" b="b"/>
            <a:pathLst>
              <a:path w="86381" h="21600">
                <a:moveTo>
                  <a:pt x="3600" y="0"/>
                </a:moveTo>
                <a:arcTo wR="3600" hR="3600" stAng="16200000" swAng="-5400000"/>
                <a:lnTo>
                  <a:pt x="0" y="18000"/>
                </a:lnTo>
                <a:arcTo wR="3600" hR="3600" stAng="10800000" swAng="-5400000"/>
                <a:lnTo>
                  <a:pt x="82781" y="21600"/>
                </a:lnTo>
                <a:arcTo wR="61181" hR="3600" stAng="5400000" swAng="5400000"/>
                <a:lnTo>
                  <a:pt x="21600" y="3600"/>
                </a:lnTo>
                <a:arcTo wR="61181" hR="3600" stAng="10800000" swAng="5400000"/>
                <a:close/>
              </a:path>
            </a:pathLst>
          </a:custGeom>
          <a:solidFill>
            <a:srgbClr val="ddddd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buNone/>
            </a:pPr>
            <a:r>
              <a:rPr b="0" lang="pt-BR" sz="1800" spc="-1" strike="noStrike">
                <a:latin typeface="Arial"/>
              </a:rPr>
              <a:t>Extração → Transformação → Carga</a:t>
            </a:r>
            <a:endParaRPr b="0" lang="pt-BR" sz="1800" spc="-1" strike="noStrike">
              <a:latin typeface="Arial"/>
            </a:endParaRPr>
          </a:p>
          <a:p>
            <a:pPr algn="ctr">
              <a:buNone/>
            </a:pPr>
            <a:endParaRPr b="0" lang="pt-BR" sz="1800" spc="-1" strike="noStrike">
              <a:latin typeface="Arial"/>
            </a:endParaRPr>
          </a:p>
          <a:p>
            <a:pPr algn="ctr">
              <a:buNone/>
            </a:pPr>
            <a:r>
              <a:rPr b="0" lang="pt-BR" sz="1800" spc="-1" strike="noStrike">
                <a:latin typeface="Arial"/>
              </a:rPr>
              <a:t>DBC → DBF → CSV → Limpeza → Análise</a:t>
            </a:r>
            <a:endParaRPr b="0" lang="pt-BR" sz="1800" spc="-1" strike="noStrike">
              <a:latin typeface="Arial"/>
            </a:endParaRPr>
          </a:p>
        </p:txBody>
      </p:sp>
      <p:pic>
        <p:nvPicPr>
          <p:cNvPr id="112" name="" descr=""/>
          <p:cNvPicPr/>
          <p:nvPr/>
        </p:nvPicPr>
        <p:blipFill>
          <a:blip r:embed="rId1"/>
          <a:stretch/>
        </p:blipFill>
        <p:spPr>
          <a:xfrm>
            <a:off x="180000" y="2520000"/>
            <a:ext cx="2396520" cy="3296160"/>
          </a:xfrm>
          <a:prstGeom prst="rect">
            <a:avLst/>
          </a:prstGeom>
          <a:ln w="0">
            <a:noFill/>
          </a:ln>
        </p:spPr>
      </p:pic>
      <p:pic>
        <p:nvPicPr>
          <p:cNvPr id="113" name="" descr=""/>
          <p:cNvPicPr/>
          <p:nvPr/>
        </p:nvPicPr>
        <p:blipFill>
          <a:blip r:embed="rId2"/>
          <a:stretch/>
        </p:blipFill>
        <p:spPr>
          <a:xfrm>
            <a:off x="6777360" y="2520000"/>
            <a:ext cx="2042640" cy="3240000"/>
          </a:xfrm>
          <a:prstGeom prst="rect">
            <a:avLst/>
          </a:prstGeom>
          <a:ln w="0">
            <a:noFill/>
          </a:ln>
        </p:spPr>
      </p:pic>
      <p:pic>
        <p:nvPicPr>
          <p:cNvPr id="114" name="" descr=""/>
          <p:cNvPicPr/>
          <p:nvPr/>
        </p:nvPicPr>
        <p:blipFill>
          <a:blip r:embed="rId3"/>
          <a:stretch/>
        </p:blipFill>
        <p:spPr>
          <a:xfrm>
            <a:off x="2928960" y="2604600"/>
            <a:ext cx="3371040" cy="29754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2554</TotalTime>
  <Application>LibreOffice/7.3.3.2$Windows_X86_64 LibreOffice_project/d1d0ea68f081ee2800a922cac8f79445e4603348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2026-05-06T11:24:36Z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