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08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BCBC36C-27D1-4FDF-AAD6-C6113CEFFE5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5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1DA3F11-2AEC-4BA6-9F0E-5F3A18BB349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7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5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5E57A4-4C26-4AEE-A207-C0E773BA137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AA04E1-6C80-4F3B-B188-A574A6EA165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8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9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6009947-6AA4-47FF-8382-076202D95FF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10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A33124-1B0A-4149-99D4-F9BE907A8C91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E1C47E-9D8C-4BE2-A203-9E3A4E1F21D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107B5B-45F2-4312-AE43-D601CC6D0EB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08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08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0DF574-7D07-44B3-84E9-EDA87EC311B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9CAA03F-48D4-446E-A138-7E6AEA24037C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4FB8C4-FB24-48F6-9361-0A4814A0B02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0" y="0"/>
            <a:ext cx="9142200" cy="68382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/>
          <p:cNvPicPr/>
          <p:nvPr/>
        </p:nvPicPr>
        <p:blipFill>
          <a:blip r:embed="rId2"/>
          <a:stretch/>
        </p:blipFill>
        <p:spPr>
          <a:xfrm>
            <a:off x="3501000" y="720000"/>
            <a:ext cx="5641200" cy="197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36000" y="0"/>
            <a:ext cx="9106200" cy="683820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08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6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2F6B363-B45E-417D-ACCB-C68DAE28A01F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7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666E3555-0C4F-47FA-8164-034E42AD82F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08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ftr" idx="37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02976C-837F-499B-AE1D-DA6CEC0C7C83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7"/>
          <p:cNvSpPr>
            <a:spLocks noGrp="1"/>
          </p:cNvSpPr>
          <p:nvPr>
            <p:ph type="dt" idx="39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adrão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D68257E7-649F-4B83-B6E7-CDAE0547D43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5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ftr" idx="40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5C616A-DCDE-47E0-8B53-598FC08D935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 type="dt" idx="42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adrã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E33D597D-200C-4CF2-8F36-85264539F9D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5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ftr" idx="43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sldNum" idx="44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1D2157-19DC-478B-B2FB-14D31AE88B9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6"/>
          <p:cNvSpPr>
            <a:spLocks noGrp="1"/>
          </p:cNvSpPr>
          <p:nvPr>
            <p:ph type="dt" idx="45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adrão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FCFE0FC3-AAAB-4CB6-9F14-B76CDD820E5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 type="ftr" idx="46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7"/>
          <p:cNvSpPr>
            <a:spLocks noGrp="1"/>
          </p:cNvSpPr>
          <p:nvPr>
            <p:ph type="sldNum" idx="47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1BA35A-F7D9-4C46-8962-26DCA4AA953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8"/>
          <p:cNvSpPr>
            <a:spLocks noGrp="1"/>
          </p:cNvSpPr>
          <p:nvPr>
            <p:ph type="dt" idx="48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B4DC641C-1DD4-442B-833F-076166587C6B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8"/>
          <p:cNvSpPr>
            <a:spLocks noGrp="1"/>
          </p:cNvSpPr>
          <p:nvPr>
            <p:ph type="ftr" idx="49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9"/>
          <p:cNvSpPr>
            <a:spLocks noGrp="1"/>
          </p:cNvSpPr>
          <p:nvPr>
            <p:ph type="sldNum" idx="50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8378A1-4689-449A-A998-F5D7329802B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10"/>
          <p:cNvSpPr>
            <a:spLocks noGrp="1"/>
          </p:cNvSpPr>
          <p:nvPr>
            <p:ph type="dt" idx="5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428F1781-1B1A-4BD0-8074-BF88248FF50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PlaceHolder 1"/>
          <p:cNvSpPr>
            <a:spLocks noGrp="1"/>
          </p:cNvSpPr>
          <p:nvPr>
            <p:ph type="ftr" idx="5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sldNum" idx="5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B3A1C4-A7F0-420B-84B7-1D4B94C7057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dt" idx="5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8F70D678-F87C-4DF2-9DE4-22BBB1F1E4F7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ftr" idx="55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56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BE3A256-0F4C-4FB9-954B-D6A42017F9F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dt" idx="57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adrão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5FFA7E82-2922-4F0F-901D-59EC655E9097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ftr" idx="58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sldNum" idx="59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0E836D-7236-4474-834B-3D700BE3BA4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dt" idx="60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adrão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704A6390-9DD5-40F6-AE55-451628A877BC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08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08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ftr" idx="6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sldNum" idx="6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6ECEE2-B1EA-4E4E-A42E-1EAA77E2343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PlaceHolder 6"/>
          <p:cNvSpPr>
            <a:spLocks noGrp="1"/>
          </p:cNvSpPr>
          <p:nvPr>
            <p:ph type="dt" idx="6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F7B4D994-51B5-4C81-A044-183EDAE057B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ftr" idx="6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6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5AA2E49-6CD8-4C51-95BE-A3DBC2046E4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dt" idx="6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Padrão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4D37D346-69D1-4EB7-8506-E8EDCC5920A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PlaceHolder 1"/>
          <p:cNvSpPr>
            <a:spLocks noGrp="1"/>
          </p:cNvSpPr>
          <p:nvPr>
            <p:ph type="ftr" idx="67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68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227654-4777-41E2-8BC6-B7DB0F58792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dt" idx="69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adrã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5"/>
          <p:cNvSpPr/>
          <p:nvPr/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6"/>
          <p:cNvSpPr/>
          <p:nvPr/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7"/>
          <p:cNvSpPr/>
          <p:nvPr/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fld id="{7AC14D80-463C-4AAE-BEFF-5934124CCF8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0" y="5940000"/>
            <a:ext cx="9178560" cy="89856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-36000" y="0"/>
            <a:ext cx="9178560" cy="89856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28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08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ftr" idx="70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6"/>
          <p:cNvSpPr>
            <a:spLocks noGrp="1"/>
          </p:cNvSpPr>
          <p:nvPr>
            <p:ph type="sldNum" idx="71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351DD7-2B8E-4F5E-940E-30B45BD0311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7"/>
          <p:cNvSpPr>
            <a:spLocks noGrp="1"/>
          </p:cNvSpPr>
          <p:nvPr>
            <p:ph type="dt" idx="72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900000" y="2880000"/>
            <a:ext cx="7379640" cy="164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Análise da Qualidade de Atendimento nas Unidades de Saúde do Recife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ubTitle"/>
          </p:nvPr>
        </p:nvSpPr>
        <p:spPr>
          <a:xfrm>
            <a:off x="0" y="4860000"/>
            <a:ext cx="8639640" cy="19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Uso de Big Data com dados do SUS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- </a:t>
            </a:r>
            <a:r>
              <a:rPr lang="pt-BR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Eduardo Santos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11840" y="-6156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PROBLEMA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900000" y="1800000"/>
            <a:ext cx="2699640" cy="287964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24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Pontos: 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- Superlotação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- Desigualdade entre unidades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4140000" y="1980000"/>
            <a:ext cx="449964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just">
              <a:lnSpc>
                <a:spcPct val="100000"/>
              </a:lnSpc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sistema público de saúde enfrenta desafios na distribuição e qualidade do atendimento.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11840" y="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OBJETIVO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7117200" y="5740200"/>
            <a:ext cx="3501360" cy="145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3080"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 algn="l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5220000" y="1440000"/>
            <a:ext cx="3239640" cy="341964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24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Objetivos específicos: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- Identificar unidades com maior demanda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- Analisar horários críticos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360000" y="2340000"/>
            <a:ext cx="4139640" cy="23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just">
              <a:lnSpc>
                <a:spcPct val="100000"/>
              </a:lnSpc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Analisar a qualidade do atendimento nas 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unidades de saúde (UPA/UBS) do Recife.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360000" y="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BASE DE DADOS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7020000" y="2160000"/>
            <a:ext cx="1979640" cy="2339640"/>
          </a:xfrm>
          <a:prstGeom prst="foldedCorner">
            <a:avLst>
              <a:gd name="adj" fmla="val 12500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Dados reais do SUS: </a:t>
            </a:r>
            <a:r>
              <a:rPr lang="pt-BR" sz="12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(DATASUS)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SIA/SUS (PAPE) →atendimentos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CNES (STPE) → unidades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CNES (PFPE) → profissionais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216000" y="1800000"/>
            <a:ext cx="6623640" cy="3178440"/>
          </a:xfrm>
          <a:prstGeom prst="rect">
            <a:avLst/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2160000" y="5220360"/>
            <a:ext cx="3240000" cy="53964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Dados analisados: 01/2018 Até 12/2021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"/>
          <p:cNvPicPr/>
          <p:nvPr/>
        </p:nvPicPr>
        <p:blipFill>
          <a:blip r:embed="rId1"/>
          <a:stretch/>
        </p:blipFill>
        <p:spPr>
          <a:xfrm>
            <a:off x="212400" y="1800000"/>
            <a:ext cx="6627240" cy="317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TECNOLOGIAS UTILIZADAS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180000" y="1980000"/>
            <a:ext cx="3060000" cy="3420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-Python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-DuckDB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-Pandas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-Parquet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-TabWin (DATASUS)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-Streamlit (dashboard)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9" name=""/>
          <p:cNvPicPr/>
          <p:nvPr/>
        </p:nvPicPr>
        <p:blipFill>
          <a:blip r:embed="rId1"/>
          <a:stretch/>
        </p:blipFill>
        <p:spPr>
          <a:xfrm>
            <a:off x="5400000" y="1440000"/>
            <a:ext cx="1273680" cy="127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"/>
          <p:cNvPicPr/>
          <p:nvPr/>
        </p:nvPicPr>
        <p:blipFill>
          <a:blip r:embed="rId2"/>
          <a:stretch/>
        </p:blipFill>
        <p:spPr>
          <a:xfrm>
            <a:off x="3818160" y="4718160"/>
            <a:ext cx="861840" cy="86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"/>
          <p:cNvPicPr/>
          <p:nvPr/>
        </p:nvPicPr>
        <p:blipFill>
          <a:blip r:embed="rId3"/>
          <a:stretch/>
        </p:blipFill>
        <p:spPr>
          <a:xfrm>
            <a:off x="3692520" y="1964160"/>
            <a:ext cx="1455840" cy="145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"/>
          <p:cNvPicPr/>
          <p:nvPr/>
        </p:nvPicPr>
        <p:blipFill>
          <a:blip r:embed="rId4"/>
          <a:stretch/>
        </p:blipFill>
        <p:spPr>
          <a:xfrm rot="20895000">
            <a:off x="6973560" y="2358360"/>
            <a:ext cx="2095200" cy="139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"/>
          <p:cNvPicPr/>
          <p:nvPr/>
        </p:nvPicPr>
        <p:blipFill>
          <a:blip r:embed="rId5"/>
          <a:stretch/>
        </p:blipFill>
        <p:spPr>
          <a:xfrm>
            <a:off x="4428360" y="3372120"/>
            <a:ext cx="1871640" cy="134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"/>
          <p:cNvPicPr/>
          <p:nvPr/>
        </p:nvPicPr>
        <p:blipFill>
          <a:blip r:embed="rId6"/>
          <a:stretch/>
        </p:blipFill>
        <p:spPr>
          <a:xfrm>
            <a:off x="6040080" y="4500000"/>
            <a:ext cx="2239920" cy="131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91840" y="180000"/>
            <a:ext cx="768816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ETL (PROCESSO)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"/>
          <p:cNvPicPr/>
          <p:nvPr/>
        </p:nvPicPr>
        <p:blipFill>
          <a:blip r:embed="rId1"/>
          <a:stretch/>
        </p:blipFill>
        <p:spPr>
          <a:xfrm>
            <a:off x="180000" y="2520000"/>
            <a:ext cx="2396160" cy="329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"/>
          <p:cNvPicPr/>
          <p:nvPr/>
        </p:nvPicPr>
        <p:blipFill>
          <a:blip r:embed="rId2"/>
          <a:stretch/>
        </p:blipFill>
        <p:spPr>
          <a:xfrm>
            <a:off x="6777360" y="2520000"/>
            <a:ext cx="2042280" cy="32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"/>
          <p:cNvPicPr/>
          <p:nvPr/>
        </p:nvPicPr>
        <p:blipFill>
          <a:blip r:embed="rId3"/>
          <a:stretch/>
        </p:blipFill>
        <p:spPr>
          <a:xfrm>
            <a:off x="2928960" y="2604600"/>
            <a:ext cx="3370680" cy="297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"/>
          <p:cNvSpPr/>
          <p:nvPr/>
        </p:nvSpPr>
        <p:spPr>
          <a:xfrm>
            <a:off x="1440000" y="1140840"/>
            <a:ext cx="6120000" cy="101916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Extração → Transformação → Carga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DBC → DBF → CSV → Limpeza → Análise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"/>
          <p:cNvPicPr/>
          <p:nvPr/>
        </p:nvPicPr>
        <p:blipFill>
          <a:blip r:embed="rId1"/>
          <a:stretch/>
        </p:blipFill>
        <p:spPr>
          <a:xfrm>
            <a:off x="180000" y="1382400"/>
            <a:ext cx="3420000" cy="40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"/>
          <p:cNvSpPr/>
          <p:nvPr/>
        </p:nvSpPr>
        <p:spPr>
          <a:xfrm>
            <a:off x="4680000" y="1260000"/>
            <a:ext cx="3960000" cy="4320000"/>
          </a:xfrm>
          <a:prstGeom prst="foldedCorner">
            <a:avLst>
              <a:gd name="adj" fmla="val 12500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Scrypt: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01_converter_dbf: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Pega os arquivos .dbc e converte em .dbf e por fim em .csv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- 02_limpeza: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Pega os arquivos .csv e limpa as colunas vazias e nulas</a:t>
            </a: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 </a:t>
            </a: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03_padronizacao_integracao..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.: Pega os arquivos .csv limpos e faz a padronização de todo o escopo e converte em .parquet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- 04_consolidar_...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: Pega os arquivos .parquet consolida todos os dado em um único arquivo 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.parquet 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- 05_validar_…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Pega o arquivo unificado 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.parquet e faz as métricas de validações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 txBox="1"/>
          <p:nvPr/>
        </p:nvSpPr>
        <p:spPr>
          <a:xfrm>
            <a:off x="591840" y="180000"/>
            <a:ext cx="768816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TRATAMENTOS DE DADOS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4"/>
          <p:cNvSpPr txBox="1"/>
          <p:nvPr/>
        </p:nvSpPr>
        <p:spPr>
          <a:xfrm>
            <a:off x="591840" y="180000"/>
            <a:ext cx="768816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DASHBOARD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"/>
          <p:cNvPicPr/>
          <p:nvPr/>
        </p:nvPicPr>
        <p:blipFill>
          <a:blip r:embed="rId1"/>
          <a:stretch/>
        </p:blipFill>
        <p:spPr>
          <a:xfrm>
            <a:off x="135000" y="1080000"/>
            <a:ext cx="2205000" cy="452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"/>
          <p:cNvSpPr/>
          <p:nvPr/>
        </p:nvSpPr>
        <p:spPr>
          <a:xfrm>
            <a:off x="5400000" y="1260000"/>
            <a:ext cx="3420000" cy="4140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Paginas: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App:</a:t>
            </a: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informações inciais sobre o projeto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Visão Geral: </a:t>
            </a: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resumo de toda analise feita e os principais pontos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Paginas com mais detalhes sobre a analise feita: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+ Ranking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+ Qualidade Demanda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+ Eficiência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+ Sobrecarga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+ Evolucao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Conclusão: </a:t>
            </a: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informações sobre o resultado nas analises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"/>
          <p:cNvPicPr/>
          <p:nvPr/>
        </p:nvPicPr>
        <p:blipFill>
          <a:blip r:embed="rId2"/>
          <a:stretch/>
        </p:blipFill>
        <p:spPr>
          <a:xfrm>
            <a:off x="2510640" y="2306880"/>
            <a:ext cx="2529360" cy="165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"/>
          <p:cNvPicPr/>
          <p:nvPr/>
        </p:nvPicPr>
        <p:blipFill>
          <a:blip r:embed="rId1"/>
          <a:stretch/>
        </p:blipFill>
        <p:spPr>
          <a:xfrm>
            <a:off x="6480000" y="1144440"/>
            <a:ext cx="2181960" cy="443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"/>
          <p:cNvSpPr/>
          <p:nvPr/>
        </p:nvSpPr>
        <p:spPr>
          <a:xfrm>
            <a:off x="540000" y="1260000"/>
            <a:ext cx="3420000" cy="4140000"/>
          </a:xfrm>
          <a:prstGeom prst="foldedCorner">
            <a:avLst>
              <a:gd name="adj" fmla="val 12500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Filtros: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Possibilidade de fazer analise com determinado ano, mês ou unidade, permitindo comparativo de evolução e analise de outras métricas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5"/>
          <p:cNvSpPr txBox="1"/>
          <p:nvPr/>
        </p:nvSpPr>
        <p:spPr>
          <a:xfrm>
            <a:off x="591840" y="180000"/>
            <a:ext cx="768816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DASHBOARD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"/>
          <p:cNvPicPr/>
          <p:nvPr/>
        </p:nvPicPr>
        <p:blipFill>
          <a:blip r:embed="rId2"/>
          <a:stretch/>
        </p:blipFill>
        <p:spPr>
          <a:xfrm>
            <a:off x="4140000" y="1908360"/>
            <a:ext cx="2211480" cy="313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"/>
          <p:cNvPicPr/>
          <p:nvPr/>
        </p:nvPicPr>
        <p:blipFill>
          <a:blip r:embed="rId1"/>
          <a:stretch/>
        </p:blipFill>
        <p:spPr>
          <a:xfrm>
            <a:off x="133200" y="1166040"/>
            <a:ext cx="6166800" cy="361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PlaceHolder 6"/>
          <p:cNvSpPr txBox="1"/>
          <p:nvPr/>
        </p:nvSpPr>
        <p:spPr>
          <a:xfrm>
            <a:off x="591840" y="180000"/>
            <a:ext cx="768816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DASHBOARD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3" name=""/>
          <p:cNvPicPr/>
          <p:nvPr/>
        </p:nvPicPr>
        <p:blipFill>
          <a:blip r:embed="rId2"/>
          <a:stretch/>
        </p:blipFill>
        <p:spPr>
          <a:xfrm>
            <a:off x="6480000" y="1224360"/>
            <a:ext cx="2628720" cy="41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"/>
          <p:cNvSpPr/>
          <p:nvPr/>
        </p:nvSpPr>
        <p:spPr>
          <a:xfrm>
            <a:off x="180000" y="4860000"/>
            <a:ext cx="6120000" cy="90000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Aplicação de gráficos para melhor compreensão visual das analises aplicada para cada caso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"/>
          <p:cNvPicPr/>
          <p:nvPr/>
        </p:nvPicPr>
        <p:blipFill>
          <a:blip r:embed="rId1"/>
          <a:stretch/>
        </p:blipFill>
        <p:spPr>
          <a:xfrm>
            <a:off x="5580000" y="1080000"/>
            <a:ext cx="3300840" cy="470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PlaceHolder 7"/>
          <p:cNvSpPr txBox="1"/>
          <p:nvPr/>
        </p:nvSpPr>
        <p:spPr>
          <a:xfrm>
            <a:off x="591840" y="180000"/>
            <a:ext cx="768816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DASHBOARD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7" name=""/>
          <p:cNvPicPr/>
          <p:nvPr/>
        </p:nvPicPr>
        <p:blipFill>
          <a:blip r:embed="rId2"/>
          <a:stretch/>
        </p:blipFill>
        <p:spPr>
          <a:xfrm>
            <a:off x="138240" y="2889720"/>
            <a:ext cx="5091840" cy="251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"/>
          <p:cNvSpPr/>
          <p:nvPr/>
        </p:nvSpPr>
        <p:spPr>
          <a:xfrm>
            <a:off x="180000" y="1080000"/>
            <a:ext cx="5040000" cy="144000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/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Informações do que o gráfico representa bem como suas métricas aplicada para cada caso, exemplificando estilo legenda de gráfico.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"/>
          <p:cNvPicPr/>
          <p:nvPr/>
        </p:nvPicPr>
        <p:blipFill>
          <a:blip r:embed="rId1"/>
          <a:stretch/>
        </p:blipFill>
        <p:spPr>
          <a:xfrm>
            <a:off x="180000" y="1080000"/>
            <a:ext cx="8820000" cy="350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PlaceHolder 8"/>
          <p:cNvSpPr txBox="1"/>
          <p:nvPr/>
        </p:nvSpPr>
        <p:spPr>
          <a:xfrm>
            <a:off x="591840" y="180000"/>
            <a:ext cx="768816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DASHBOARD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180000" y="4680000"/>
            <a:ext cx="8820000" cy="10800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Resultado geral do Dashboard com as aplicações de gráficos, filtros, informações e paginas que levam a novas analises sobre o caso do projeto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2587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2026-05-27T13:30:49Z</dcterms:modified>
  <cp:revision>19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